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CCC924-149D-46E5-A2D2-80BA942E3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811CE3-58AC-4782-9D31-1E6D3ED15F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73C6FD-F954-49CD-BE23-B4785136C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1C22-22E4-4AEF-A3CE-F236C26729D2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62623F-E2D0-4FC5-BB86-04378B034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142F74-6741-4F2D-8DA3-CF43672E1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5257-CCD9-4AF9-82BC-BB44BAEAF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87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94DAE7-80EA-4178-B493-5D604108D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90470E-AC5C-4886-8760-3E2FF0893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1AE769-699E-4868-B610-DF29BF583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1C22-22E4-4AEF-A3CE-F236C26729D2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EA91A3-937B-4C9F-AD31-31DC7D139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5DC91F-44C8-4391-A0D0-03287DC83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5257-CCD9-4AF9-82BC-BB44BAEAF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573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0CBBC8-0855-4A49-A043-E7AC956AD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77BFEA-7890-46B1-9C00-D37733E9C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AFA5-7F23-4B7A-84BB-22A1F9CE4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1C22-22E4-4AEF-A3CE-F236C26729D2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988F51-4A69-4CDF-BCC9-387327181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95F2F2-58E8-4B8E-9C3D-C9EC03639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5257-CCD9-4AF9-82BC-BB44BAEAF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76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FD51AA-B2D4-4FB3-A404-D5E6EC15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27CAD9-E919-448A-9C8D-8BFA3F3053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25C12C-68EE-4C40-85FB-73D870AB6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286E34-1FA2-4B37-B952-1126A374D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1C22-22E4-4AEF-A3CE-F236C26729D2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A0CF80-C64D-48E3-B2C0-6380ED8A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FD5009-2E57-45B6-9D2C-B465138AE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5257-CCD9-4AF9-82BC-BB44BAEAF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3511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57665A-1CB4-4D6B-A25A-13BD70BD0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860ACE-DBFB-4361-AF21-CF7F29A5D1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F803C9-25E2-4B1A-A78D-B71FAFC1C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CD7134D-C5A6-4EDD-BE87-E04C093EA9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BB1536E-E864-415C-A60F-CE5A85CF9A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654C4BE-A490-4ABF-A81B-1DC7E6FEC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1C22-22E4-4AEF-A3CE-F236C26729D2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AFDD884-065D-4BD1-9236-6D207D525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2E20D9E-E255-428D-97C7-FCB5299D5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5257-CCD9-4AF9-82BC-BB44BAEAF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0814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9AEAEE-93BB-4F08-AF95-4E55479AC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2B4795E-9C80-45A6-97C9-ABF67F917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1C22-22E4-4AEF-A3CE-F236C26729D2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E4C4814-5A21-4C6E-8B08-EA8D434A4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AD340C-FE2A-456A-88CE-B6CC4413B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5257-CCD9-4AF9-82BC-BB44BAEAF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517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86E8B8D-A979-4E9F-B7CE-6FC460933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1C22-22E4-4AEF-A3CE-F236C26729D2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493E9C-995E-41B8-930E-1CB48BE71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162E3F-00AA-41E5-9DD7-FFC9A713B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5257-CCD9-4AF9-82BC-BB44BAEAF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1583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AB55D9-463F-4219-887A-74187381B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36C78D-EA10-427F-AA6A-6702CC37B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D5530D-E5DD-4BFB-892F-31979007C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87B1C8-2EF1-4B22-B9B7-016DE0BCC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1C22-22E4-4AEF-A3CE-F236C26729D2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D0BD82-4121-4961-A8A2-340D7C2E6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65C790-FB44-430B-9954-B8E7103C7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5257-CCD9-4AF9-82BC-BB44BAEAF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355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8359AA-72CD-444A-A255-B1DA6BBB8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AFB0DEB-1FC0-4145-B343-34D5F8D734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8A9D26-9A4E-46BA-A622-2CAA34616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8C196B-50A3-4877-9AAE-4FC3D71B3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1C22-22E4-4AEF-A3CE-F236C26729D2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663CD2-E24B-42CA-BA42-C6D58AFA5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734335-3EA9-4567-87B4-946C15687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5257-CCD9-4AF9-82BC-BB44BAEAF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832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F23870-72CD-4004-8464-8C57144DB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B2D64A-BBF7-48B9-8218-FCAD28A898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C46A79-5A13-483D-8D42-741A54A5A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1C22-22E4-4AEF-A3CE-F236C26729D2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CF602B-F46D-4951-A9EF-F66021BBC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B7CFBE-72D3-451D-8FA7-FA345FB9A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5257-CCD9-4AF9-82BC-BB44BAEAF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800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907F5E-B5F9-465B-93D7-6FC91C8A2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65F337F-4839-41E5-8AFF-71F0FB9A16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8CA2D7-D25A-4090-AC2F-7D92FC57F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1C22-22E4-4AEF-A3CE-F236C26729D2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2E945B-1052-41C8-8E42-ED33B3157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BE8569-F193-4074-8BFA-927FAE79E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5257-CCD9-4AF9-82BC-BB44BAEAF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14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FECDE8D-71F3-4B28-8447-AEDADFBE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68E3C8-ADB0-4D42-8AC2-54D9D9804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E3C3C8-EBAB-4D14-947B-801DDCE88D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E1C22-22E4-4AEF-A3CE-F236C26729D2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13FCB3-752F-4182-9E80-215F19067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A3A48E-96A5-44E0-B762-AEE64E1C4E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65257-CCD9-4AF9-82BC-BB44BAEAF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2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FFC68ABC-1E60-471A-AE5A-B1C16DA36300}"/>
              </a:ext>
            </a:extLst>
          </p:cNvPr>
          <p:cNvGrpSpPr/>
          <p:nvPr/>
        </p:nvGrpSpPr>
        <p:grpSpPr>
          <a:xfrm>
            <a:off x="737937" y="2875002"/>
            <a:ext cx="10716126" cy="3461984"/>
            <a:chOff x="737937" y="2875002"/>
            <a:chExt cx="10716126" cy="3461984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CFA4D124-14FB-4674-A700-AC27051F057D}"/>
                </a:ext>
              </a:extLst>
            </p:cNvPr>
            <p:cNvGrpSpPr/>
            <p:nvPr/>
          </p:nvGrpSpPr>
          <p:grpSpPr>
            <a:xfrm>
              <a:off x="737937" y="2875002"/>
              <a:ext cx="10716126" cy="1154220"/>
              <a:chOff x="737937" y="2469309"/>
              <a:chExt cx="10716126" cy="1154220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3F7628-0B5E-44F2-90D8-234E989CFD0A}"/>
                  </a:ext>
                </a:extLst>
              </p:cNvPr>
              <p:cNvSpPr txBox="1"/>
              <p:nvPr/>
            </p:nvSpPr>
            <p:spPr>
              <a:xfrm>
                <a:off x="737937" y="2469309"/>
                <a:ext cx="1071612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3600" b="1" dirty="0"/>
                  <a:t>동굴 재난 탐사 및 인명·위험물 탐지 로봇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FC68236-C669-4952-BB3B-FAFEFB909BED}"/>
                  </a:ext>
                </a:extLst>
              </p:cNvPr>
              <p:cNvSpPr txBox="1"/>
              <p:nvPr/>
            </p:nvSpPr>
            <p:spPr>
              <a:xfrm>
                <a:off x="737937" y="3254197"/>
                <a:ext cx="107161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Team Name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: </a:t>
                </a:r>
                <a:endParaRPr lang="ko-KR" altLang="en-US" dirty="0"/>
              </a:p>
            </p:txBody>
          </p:sp>
        </p:grp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6B08E972-F986-4570-98ED-7B83F6C7A8CB}"/>
                </a:ext>
              </a:extLst>
            </p:cNvPr>
            <p:cNvCxnSpPr>
              <a:cxnSpLocks/>
            </p:cNvCxnSpPr>
            <p:nvPr/>
          </p:nvCxnSpPr>
          <p:spPr>
            <a:xfrm>
              <a:off x="737937" y="5519758"/>
              <a:ext cx="10716126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4DD9161-D55C-4018-83B1-4D90F1E2F3BC}"/>
                </a:ext>
              </a:extLst>
            </p:cNvPr>
            <p:cNvSpPr txBox="1"/>
            <p:nvPr/>
          </p:nvSpPr>
          <p:spPr>
            <a:xfrm>
              <a:off x="737937" y="5639936"/>
              <a:ext cx="10716126" cy="697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400" b="1" dirty="0"/>
                <a:t>SLAM·Nav2 자율주행과 카메라 비전 인식 기술로, 사람이 접근하기 어려운 동굴 재난 현장에서</a:t>
              </a:r>
              <a:endParaRPr lang="en-US" altLang="ko-KR" sz="1400" b="1" dirty="0">
                <a:solidFill>
                  <a:srgbClr val="7030A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 b="1" dirty="0"/>
                <a:t>생존자와 위험물을 탐지하는 사족보행 로봇 시스템</a:t>
              </a:r>
              <a:endParaRPr lang="en-US" altLang="ko-KR" sz="1400" b="1" dirty="0">
                <a:solidFill>
                  <a:srgbClr val="7030A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0490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9435DC1C-F153-4125-9CE3-2A72E93CC8DB}"/>
              </a:ext>
            </a:extLst>
          </p:cNvPr>
          <p:cNvGrpSpPr/>
          <p:nvPr/>
        </p:nvGrpSpPr>
        <p:grpSpPr>
          <a:xfrm>
            <a:off x="702567" y="454937"/>
            <a:ext cx="10786865" cy="523220"/>
            <a:chOff x="667198" y="522314"/>
            <a:chExt cx="10786865" cy="52322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4F754F9-DD84-4ED9-AC56-AC6ADE42E5FB}"/>
                </a:ext>
              </a:extLst>
            </p:cNvPr>
            <p:cNvSpPr txBox="1"/>
            <p:nvPr/>
          </p:nvSpPr>
          <p:spPr>
            <a:xfrm>
              <a:off x="667198" y="522314"/>
              <a:ext cx="7402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rgbClr val="002060"/>
                  </a:solidFill>
                </a:rPr>
                <a:t>01</a:t>
              </a:r>
              <a:endParaRPr lang="ko-KR" altLang="en-US" sz="2800" b="1" dirty="0">
                <a:solidFill>
                  <a:srgbClr val="002060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89AA537-3DFC-477B-8CB5-253C2BBF1DE1}"/>
                </a:ext>
              </a:extLst>
            </p:cNvPr>
            <p:cNvSpPr txBox="1"/>
            <p:nvPr/>
          </p:nvSpPr>
          <p:spPr>
            <a:xfrm>
              <a:off x="1491915" y="599258"/>
              <a:ext cx="9962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프로젝트 개요</a:t>
              </a: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AE3D1B7F-C834-465F-A2CA-C8F021981BC2}"/>
              </a:ext>
            </a:extLst>
          </p:cNvPr>
          <p:cNvSpPr/>
          <p:nvPr/>
        </p:nvSpPr>
        <p:spPr>
          <a:xfrm>
            <a:off x="702566" y="1243502"/>
            <a:ext cx="4937837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수행할 프로젝트 아이디어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734D5C9-0ED3-4BA6-B4C9-E49D0775D38B}"/>
              </a:ext>
            </a:extLst>
          </p:cNvPr>
          <p:cNvSpPr/>
          <p:nvPr/>
        </p:nvSpPr>
        <p:spPr>
          <a:xfrm>
            <a:off x="702565" y="1746928"/>
            <a:ext cx="4937837" cy="2873198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[Gazebo 동굴 맵(gazebo_cave_world) + Go2 로봇 시뮬레이션 화면]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52A6A37-4AEE-455C-8892-F6CA73F20948}"/>
              </a:ext>
            </a:extLst>
          </p:cNvPr>
          <p:cNvSpPr/>
          <p:nvPr/>
        </p:nvSpPr>
        <p:spPr>
          <a:xfrm>
            <a:off x="5775158" y="1243502"/>
            <a:ext cx="5714275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핵심 기술 및 기능 소개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054AC97-577E-46DA-9F2C-5A4B81E04BEB}"/>
              </a:ext>
            </a:extLst>
          </p:cNvPr>
          <p:cNvGrpSpPr/>
          <p:nvPr/>
        </p:nvGrpSpPr>
        <p:grpSpPr>
          <a:xfrm>
            <a:off x="5775158" y="1746928"/>
            <a:ext cx="5714274" cy="866775"/>
            <a:chOff x="5775158" y="1746928"/>
            <a:chExt cx="5714274" cy="86677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98392E3-F2F0-4F33-83FD-6C5C32A779FD}"/>
                </a:ext>
              </a:extLst>
            </p:cNvPr>
            <p:cNvSpPr/>
            <p:nvPr/>
          </p:nvSpPr>
          <p:spPr>
            <a:xfrm>
              <a:off x="5775158" y="1746928"/>
              <a:ext cx="5714274" cy="86677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584BB812-F227-42D6-9F78-8B64B1B2EFDE}"/>
                </a:ext>
              </a:extLst>
            </p:cNvPr>
            <p:cNvGrpSpPr/>
            <p:nvPr/>
          </p:nvGrpSpPr>
          <p:grpSpPr>
            <a:xfrm>
              <a:off x="5882133" y="1893787"/>
              <a:ext cx="5500324" cy="557668"/>
              <a:chOff x="5989107" y="1873709"/>
              <a:chExt cx="5286375" cy="557668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A2714DF-8444-4ACC-99E9-7D39DD7DBF07}"/>
                  </a:ext>
                </a:extLst>
              </p:cNvPr>
              <p:cNvSpPr txBox="1"/>
              <p:nvPr/>
            </p:nvSpPr>
            <p:spPr>
              <a:xfrm>
                <a:off x="5989107" y="1873709"/>
                <a:ext cx="528637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b="1" dirty="0"/>
                  <a:t>SLAM 실시간 매핑</a:t>
                </a:r>
                <a:endParaRPr lang="ko-KR" altLang="en-US" sz="1200" b="1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A0EC096-3150-42FD-AC5E-4817991C2D59}"/>
                  </a:ext>
                </a:extLst>
              </p:cNvPr>
              <p:cNvSpPr txBox="1"/>
              <p:nvPr/>
            </p:nvSpPr>
            <p:spPr>
              <a:xfrm>
                <a:off x="5989107" y="2169767"/>
                <a:ext cx="528637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100" dirty="0"/>
                  <a:t>slam_toolbox로 동굴 내부를 실시간으로 지도화</a:t>
                </a:r>
              </a:p>
            </p:txBody>
          </p:sp>
        </p:grp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480CEEEE-EF82-4F4C-B87C-3545429866C7}"/>
              </a:ext>
            </a:extLst>
          </p:cNvPr>
          <p:cNvGrpSpPr/>
          <p:nvPr/>
        </p:nvGrpSpPr>
        <p:grpSpPr>
          <a:xfrm>
            <a:off x="5775158" y="2750140"/>
            <a:ext cx="5714274" cy="866775"/>
            <a:chOff x="5775158" y="2750140"/>
            <a:chExt cx="5714274" cy="866775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F5B3BA4-666C-41BA-91F0-40BF67DC18B1}"/>
                </a:ext>
              </a:extLst>
            </p:cNvPr>
            <p:cNvSpPr/>
            <p:nvPr/>
          </p:nvSpPr>
          <p:spPr>
            <a:xfrm>
              <a:off x="5775158" y="2750140"/>
              <a:ext cx="5714274" cy="86677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F8F9875-BD81-4FC0-A119-4C451653A386}"/>
                </a:ext>
              </a:extLst>
            </p:cNvPr>
            <p:cNvGrpSpPr/>
            <p:nvPr/>
          </p:nvGrpSpPr>
          <p:grpSpPr>
            <a:xfrm>
              <a:off x="5882133" y="2896999"/>
              <a:ext cx="5500324" cy="557668"/>
              <a:chOff x="5989107" y="1873709"/>
              <a:chExt cx="5286375" cy="557668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3635DE3-02CB-46D8-A864-DCAA4096278B}"/>
                  </a:ext>
                </a:extLst>
              </p:cNvPr>
              <p:cNvSpPr txBox="1"/>
              <p:nvPr/>
            </p:nvSpPr>
            <p:spPr>
              <a:xfrm>
                <a:off x="5989107" y="1873709"/>
                <a:ext cx="528637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b="1" dirty="0"/>
                  <a:t>Nav2 자율주행</a:t>
                </a:r>
                <a:endParaRPr lang="ko-KR" altLang="en-US" sz="1200" b="1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4AA1658-0442-4C38-90D3-C0ECA46FF16B}"/>
                  </a:ext>
                </a:extLst>
              </p:cNvPr>
              <p:cNvSpPr txBox="1"/>
              <p:nvPr/>
            </p:nvSpPr>
            <p:spPr>
              <a:xfrm>
                <a:off x="5989107" y="2169767"/>
                <a:ext cx="528637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100" dirty="0"/>
                  <a:t>다중 경로계획 알고리즘 비교를 통한 최적 자율주행</a:t>
                </a:r>
                <a:endParaRPr lang="ko-KR" altLang="en-US" sz="1100" dirty="0"/>
              </a:p>
            </p:txBody>
          </p:sp>
        </p:grp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7DFE127-07CB-4640-AFA8-578F0097581D}"/>
              </a:ext>
            </a:extLst>
          </p:cNvPr>
          <p:cNvGrpSpPr/>
          <p:nvPr/>
        </p:nvGrpSpPr>
        <p:grpSpPr>
          <a:xfrm>
            <a:off x="5775158" y="3753351"/>
            <a:ext cx="5714274" cy="866775"/>
            <a:chOff x="5775158" y="3753351"/>
            <a:chExt cx="5714274" cy="866775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F3D98D3-667C-4598-9417-1E55366EDEE8}"/>
                </a:ext>
              </a:extLst>
            </p:cNvPr>
            <p:cNvSpPr/>
            <p:nvPr/>
          </p:nvSpPr>
          <p:spPr>
            <a:xfrm>
              <a:off x="5775158" y="3753351"/>
              <a:ext cx="5714274" cy="86677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F1A203D4-C055-40F1-9F9A-85CE170F4893}"/>
                </a:ext>
              </a:extLst>
            </p:cNvPr>
            <p:cNvGrpSpPr/>
            <p:nvPr/>
          </p:nvGrpSpPr>
          <p:grpSpPr>
            <a:xfrm>
              <a:off x="5882133" y="3900210"/>
              <a:ext cx="5500324" cy="557668"/>
              <a:chOff x="5989107" y="1873709"/>
              <a:chExt cx="5286375" cy="557668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C040DF7-5970-43BB-B74B-B71468B273C9}"/>
                  </a:ext>
                </a:extLst>
              </p:cNvPr>
              <p:cNvSpPr txBox="1"/>
              <p:nvPr/>
            </p:nvSpPr>
            <p:spPr>
              <a:xfrm>
                <a:off x="5989107" y="1873709"/>
                <a:ext cx="528637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b="1" dirty="0"/>
                  <a:t>비전 기반 위험 탐지</a:t>
                </a:r>
                <a:endParaRPr lang="ko-KR" altLang="en-US" sz="1200" b="1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8F8B853-22E0-4087-A71C-2984E688651D}"/>
                  </a:ext>
                </a:extLst>
              </p:cNvPr>
              <p:cNvSpPr txBox="1"/>
              <p:nvPr/>
            </p:nvSpPr>
            <p:spPr>
              <a:xfrm>
                <a:off x="5989107" y="2169767"/>
                <a:ext cx="528637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100" dirty="0"/>
                  <a:t>카메라로 생존자·위험물(AprilTag) 인식 및 위치 보고</a:t>
                </a:r>
                <a:endParaRPr lang="ko-KR" altLang="en-US" sz="1100" dirty="0"/>
              </a:p>
            </p:txBody>
          </p:sp>
        </p:grp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0AA22525-FB50-4DFA-A2F4-375A6E88D447}"/>
              </a:ext>
            </a:extLst>
          </p:cNvPr>
          <p:cNvGrpSpPr/>
          <p:nvPr/>
        </p:nvGrpSpPr>
        <p:grpSpPr>
          <a:xfrm>
            <a:off x="702564" y="4887609"/>
            <a:ext cx="10786868" cy="1635621"/>
            <a:chOff x="702564" y="4887609"/>
            <a:chExt cx="10786868" cy="163562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55CC329-9D16-40CA-8C4B-396B60EC1C50}"/>
                </a:ext>
              </a:extLst>
            </p:cNvPr>
            <p:cNvSpPr txBox="1"/>
            <p:nvPr/>
          </p:nvSpPr>
          <p:spPr>
            <a:xfrm>
              <a:off x="702564" y="4887609"/>
              <a:ext cx="107868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/>
                <a:t>프로젝트 수행 프로세스 소개</a:t>
              </a: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850CDCB7-EE5C-41FC-A7C2-D8436D0BAA3B}"/>
                </a:ext>
              </a:extLst>
            </p:cNvPr>
            <p:cNvGrpSpPr/>
            <p:nvPr/>
          </p:nvGrpSpPr>
          <p:grpSpPr>
            <a:xfrm>
              <a:off x="702564" y="5227830"/>
              <a:ext cx="10786868" cy="1295400"/>
              <a:chOff x="702564" y="5227830"/>
              <a:chExt cx="10786868" cy="1295400"/>
            </a:xfrm>
          </p:grpSpPr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9426B646-2CAE-4BAD-A6BA-5D662241DE6F}"/>
                  </a:ext>
                </a:extLst>
              </p:cNvPr>
              <p:cNvSpPr/>
              <p:nvPr/>
            </p:nvSpPr>
            <p:spPr>
              <a:xfrm>
                <a:off x="702564" y="5227830"/>
                <a:ext cx="1726800" cy="1295400"/>
              </a:xfrm>
              <a:prstGeom prst="roundRect">
                <a:avLst>
                  <a:gd name="adj" fmla="val 9314"/>
                </a:avLst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주제 선정 및</a:t>
                </a:r>
                <a:endParaRPr lang="ko-KR" altLang="en-US" sz="1600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요구사항 분석</a:t>
                </a:r>
                <a:endParaRPr lang="ko-KR" alt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사각형: 둥근 모서리 28">
                <a:extLst>
                  <a:ext uri="{FF2B5EF4-FFF2-40B4-BE49-F238E27FC236}">
                    <a16:creationId xmlns:a16="http://schemas.microsoft.com/office/drawing/2014/main" id="{8503B7AF-9BFF-460A-8856-A1D0B020D845}"/>
                  </a:ext>
                </a:extLst>
              </p:cNvPr>
              <p:cNvSpPr/>
              <p:nvPr/>
            </p:nvSpPr>
            <p:spPr>
              <a:xfrm>
                <a:off x="2967581" y="5227830"/>
                <a:ext cx="1726800" cy="1295400"/>
              </a:xfrm>
              <a:prstGeom prst="roundRect">
                <a:avLst>
                  <a:gd name="adj" fmla="val 9314"/>
                </a:avLst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Gazebo·Go2</a:t>
                </a:r>
                <a:endParaRPr lang="ko-KR" altLang="en-US" sz="1600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시뮬레이션 환경 구축</a:t>
                </a:r>
                <a:endParaRPr lang="ko-KR" alt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9743FE4B-91B2-4346-89B8-656AB6EF6A6C}"/>
                  </a:ext>
                </a:extLst>
              </p:cNvPr>
              <p:cNvSpPr/>
              <p:nvPr/>
            </p:nvSpPr>
            <p:spPr>
              <a:xfrm>
                <a:off x="5232598" y="5227830"/>
                <a:ext cx="1726800" cy="1295400"/>
              </a:xfrm>
              <a:prstGeom prst="roundRect">
                <a:avLst>
                  <a:gd name="adj" fmla="val 9314"/>
                </a:avLst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SLAM·Nav2</a:t>
                </a:r>
                <a:endParaRPr lang="ko-KR" altLang="en-US" sz="1600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자율주행 구현</a:t>
                </a:r>
                <a:endParaRPr lang="ko-KR" alt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24142BA6-2F00-4F35-99FD-1AB3DAA892E4}"/>
                  </a:ext>
                </a:extLst>
              </p:cNvPr>
              <p:cNvSpPr/>
              <p:nvPr/>
            </p:nvSpPr>
            <p:spPr>
              <a:xfrm>
                <a:off x="7497615" y="5227830"/>
                <a:ext cx="1726800" cy="1295400"/>
              </a:xfrm>
              <a:prstGeom prst="roundRect">
                <a:avLst>
                  <a:gd name="adj" fmla="val 9314"/>
                </a:avLst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비전 인식 모듈</a:t>
                </a:r>
                <a:endParaRPr lang="ko-KR" altLang="en-US" sz="1600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통합</a:t>
                </a:r>
                <a:endParaRPr lang="ko-KR" alt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14F5C37C-E708-4BA2-9799-831FEACD98BB}"/>
                  </a:ext>
                </a:extLst>
              </p:cNvPr>
              <p:cNvSpPr/>
              <p:nvPr/>
            </p:nvSpPr>
            <p:spPr>
              <a:xfrm>
                <a:off x="9762632" y="5227830"/>
                <a:ext cx="1726800" cy="1295400"/>
              </a:xfrm>
              <a:prstGeom prst="roundRect">
                <a:avLst>
                  <a:gd name="adj" fmla="val 9314"/>
                </a:avLst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통합 테스트 및</a:t>
                </a:r>
                <a:endParaRPr lang="ko-KR" altLang="en-US" sz="1600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성능 검증</a:t>
                </a:r>
                <a:endParaRPr lang="ko-KR" alt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화살표: 갈매기형 수장 34">
                <a:extLst>
                  <a:ext uri="{FF2B5EF4-FFF2-40B4-BE49-F238E27FC236}">
                    <a16:creationId xmlns:a16="http://schemas.microsoft.com/office/drawing/2014/main" id="{8B422901-684E-421C-ABE3-FE599A9DC16B}"/>
                  </a:ext>
                </a:extLst>
              </p:cNvPr>
              <p:cNvSpPr/>
              <p:nvPr/>
            </p:nvSpPr>
            <p:spPr>
              <a:xfrm>
                <a:off x="2551823" y="5621530"/>
                <a:ext cx="293299" cy="508000"/>
              </a:xfrm>
              <a:prstGeom prst="chevron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화살표: 갈매기형 수장 35">
                <a:extLst>
                  <a:ext uri="{FF2B5EF4-FFF2-40B4-BE49-F238E27FC236}">
                    <a16:creationId xmlns:a16="http://schemas.microsoft.com/office/drawing/2014/main" id="{62C650BD-DD03-4ED0-9560-DA2579B56B69}"/>
                  </a:ext>
                </a:extLst>
              </p:cNvPr>
              <p:cNvSpPr/>
              <p:nvPr/>
            </p:nvSpPr>
            <p:spPr>
              <a:xfrm>
                <a:off x="4816840" y="5621530"/>
                <a:ext cx="293299" cy="508000"/>
              </a:xfrm>
              <a:prstGeom prst="chevron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화살표: 갈매기형 수장 36">
                <a:extLst>
                  <a:ext uri="{FF2B5EF4-FFF2-40B4-BE49-F238E27FC236}">
                    <a16:creationId xmlns:a16="http://schemas.microsoft.com/office/drawing/2014/main" id="{5F9B0C0B-EA53-4818-BB38-062AF2E36781}"/>
                  </a:ext>
                </a:extLst>
              </p:cNvPr>
              <p:cNvSpPr/>
              <p:nvPr/>
            </p:nvSpPr>
            <p:spPr>
              <a:xfrm>
                <a:off x="7081857" y="5621530"/>
                <a:ext cx="293299" cy="508000"/>
              </a:xfrm>
              <a:prstGeom prst="chevron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화살표: 갈매기형 수장 37">
                <a:extLst>
                  <a:ext uri="{FF2B5EF4-FFF2-40B4-BE49-F238E27FC236}">
                    <a16:creationId xmlns:a16="http://schemas.microsoft.com/office/drawing/2014/main" id="{1D92168D-ECEE-4C0F-B206-ABB940618195}"/>
                  </a:ext>
                </a:extLst>
              </p:cNvPr>
              <p:cNvSpPr/>
              <p:nvPr/>
            </p:nvSpPr>
            <p:spPr>
              <a:xfrm>
                <a:off x="9346874" y="5621530"/>
                <a:ext cx="293299" cy="508000"/>
              </a:xfrm>
              <a:prstGeom prst="chevron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49220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9435DC1C-F153-4125-9CE3-2A72E93CC8DB}"/>
              </a:ext>
            </a:extLst>
          </p:cNvPr>
          <p:cNvGrpSpPr/>
          <p:nvPr/>
        </p:nvGrpSpPr>
        <p:grpSpPr>
          <a:xfrm>
            <a:off x="702567" y="454937"/>
            <a:ext cx="10786865" cy="523220"/>
            <a:chOff x="667198" y="522314"/>
            <a:chExt cx="10786865" cy="52322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4F754F9-DD84-4ED9-AC56-AC6ADE42E5FB}"/>
                </a:ext>
              </a:extLst>
            </p:cNvPr>
            <p:cNvSpPr txBox="1"/>
            <p:nvPr/>
          </p:nvSpPr>
          <p:spPr>
            <a:xfrm>
              <a:off x="667198" y="522314"/>
              <a:ext cx="7402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rgbClr val="002060"/>
                  </a:solidFill>
                </a:rPr>
                <a:t>02</a:t>
              </a:r>
              <a:endParaRPr lang="ko-KR" altLang="en-US" sz="2800" b="1" dirty="0">
                <a:solidFill>
                  <a:srgbClr val="002060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89AA537-3DFC-477B-8CB5-253C2BBF1DE1}"/>
                </a:ext>
              </a:extLst>
            </p:cNvPr>
            <p:cNvSpPr txBox="1"/>
            <p:nvPr/>
          </p:nvSpPr>
          <p:spPr>
            <a:xfrm>
              <a:off x="1491915" y="599258"/>
              <a:ext cx="9962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핵심 기술 및 기능</a:t>
              </a:r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A03BB0F8-0DAD-476B-9267-5C0EBE79E778}"/>
              </a:ext>
            </a:extLst>
          </p:cNvPr>
          <p:cNvSpPr/>
          <p:nvPr/>
        </p:nvSpPr>
        <p:spPr>
          <a:xfrm>
            <a:off x="702566" y="1698803"/>
            <a:ext cx="2619928" cy="1524467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[SLAM 매핑 결과 화면]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CB40BD-ADA4-4EA9-88EF-8C38E0B364EE}"/>
              </a:ext>
            </a:extLst>
          </p:cNvPr>
          <p:cNvSpPr/>
          <p:nvPr/>
        </p:nvSpPr>
        <p:spPr>
          <a:xfrm>
            <a:off x="702567" y="1243502"/>
            <a:ext cx="2619928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SLAM 실시간 매핑</a:t>
            </a:r>
            <a:endParaRPr lang="ko-KR" altLang="en-US" sz="16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ABFA7CC-E43B-4CE2-B51B-D6F9B4075483}"/>
              </a:ext>
            </a:extLst>
          </p:cNvPr>
          <p:cNvSpPr/>
          <p:nvPr/>
        </p:nvSpPr>
        <p:spPr>
          <a:xfrm>
            <a:off x="3424879" y="1243502"/>
            <a:ext cx="2619928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Nav2 다중 경로계획</a:t>
            </a:r>
            <a:endParaRPr lang="ko-KR" altLang="en-US" sz="16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483E43B-D216-408C-893C-79594DCD9203}"/>
              </a:ext>
            </a:extLst>
          </p:cNvPr>
          <p:cNvSpPr/>
          <p:nvPr/>
        </p:nvSpPr>
        <p:spPr>
          <a:xfrm>
            <a:off x="6147191" y="1243502"/>
            <a:ext cx="2619928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비전 기반 인명·위험물 탐지</a:t>
            </a:r>
            <a:endParaRPr lang="ko-KR" altLang="en-US" sz="16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31D40D-15D9-44D0-BBBA-9A03BC60E933}"/>
              </a:ext>
            </a:extLst>
          </p:cNvPr>
          <p:cNvSpPr/>
          <p:nvPr/>
        </p:nvSpPr>
        <p:spPr>
          <a:xfrm>
            <a:off x="8869504" y="1243502"/>
            <a:ext cx="2619928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AprilTag 위치 보정</a:t>
            </a:r>
            <a:endParaRPr lang="ko-KR" altLang="en-US" sz="16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CE3C31B-8179-49FE-B791-FF452B765FA3}"/>
              </a:ext>
            </a:extLst>
          </p:cNvPr>
          <p:cNvSpPr/>
          <p:nvPr/>
        </p:nvSpPr>
        <p:spPr>
          <a:xfrm>
            <a:off x="3424879" y="1698803"/>
            <a:ext cx="2619928" cy="1524467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[Nav2 경로계획 비교 화면]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CBF5431-230D-4D65-B5B4-29B1ED6B778E}"/>
              </a:ext>
            </a:extLst>
          </p:cNvPr>
          <p:cNvSpPr/>
          <p:nvPr/>
        </p:nvSpPr>
        <p:spPr>
          <a:xfrm>
            <a:off x="6147192" y="1698803"/>
            <a:ext cx="2619928" cy="1524467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[YOLO 객체 탐지 결과 화면]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9CB1A57-DBE7-472B-9761-59949BAA43BC}"/>
              </a:ext>
            </a:extLst>
          </p:cNvPr>
          <p:cNvSpPr/>
          <p:nvPr/>
        </p:nvSpPr>
        <p:spPr>
          <a:xfrm>
            <a:off x="8869504" y="1698803"/>
            <a:ext cx="2619928" cy="1524467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[AprilTag 인식 화면]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F43736F-664D-4BAF-AE54-868E5A42AD80}"/>
              </a:ext>
            </a:extLst>
          </p:cNvPr>
          <p:cNvSpPr/>
          <p:nvPr/>
        </p:nvSpPr>
        <p:spPr>
          <a:xfrm>
            <a:off x="702566" y="3309239"/>
            <a:ext cx="2619928" cy="3016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slam_toolbox(Ceres Solver)로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동굴 내부 형상을 온라인으로 매핑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D3F38C3-42E5-4A9E-8F4F-722D555712A1}"/>
              </a:ext>
            </a:extLst>
          </p:cNvPr>
          <p:cNvSpPr/>
          <p:nvPr/>
        </p:nvSpPr>
        <p:spPr>
          <a:xfrm>
            <a:off x="3424879" y="3309239"/>
            <a:ext cx="2619928" cy="3016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A*/Theta*/RRT* 등 알고리즘 비교를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통해 최적 경로 선정 및 자율주행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6715765-E997-4659-91EC-996489270C8D}"/>
              </a:ext>
            </a:extLst>
          </p:cNvPr>
          <p:cNvSpPr/>
          <p:nvPr/>
        </p:nvSpPr>
        <p:spPr>
          <a:xfrm>
            <a:off x="6147192" y="3309239"/>
            <a:ext cx="2619928" cy="3016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YOLO로 backpack·extinguisher·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survivor 등 아티팩트 탐지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69C56CA-D8C8-4072-8BC5-7E29EAE1AED4}"/>
              </a:ext>
            </a:extLst>
          </p:cNvPr>
          <p:cNvSpPr/>
          <p:nvPr/>
        </p:nvSpPr>
        <p:spPr>
          <a:xfrm>
            <a:off x="8869504" y="3309239"/>
            <a:ext cx="2619928" cy="3016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게이트의 AprilTag 인식으로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SLAM 누적 오차 보정</a:t>
            </a:r>
            <a:endParaRPr lang="en-US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071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9435DC1C-F153-4125-9CE3-2A72E93CC8DB}"/>
              </a:ext>
            </a:extLst>
          </p:cNvPr>
          <p:cNvGrpSpPr/>
          <p:nvPr/>
        </p:nvGrpSpPr>
        <p:grpSpPr>
          <a:xfrm>
            <a:off x="702567" y="454937"/>
            <a:ext cx="10786865" cy="523220"/>
            <a:chOff x="667198" y="522314"/>
            <a:chExt cx="10786865" cy="52322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4F754F9-DD84-4ED9-AC56-AC6ADE42E5FB}"/>
                </a:ext>
              </a:extLst>
            </p:cNvPr>
            <p:cNvSpPr txBox="1"/>
            <p:nvPr/>
          </p:nvSpPr>
          <p:spPr>
            <a:xfrm>
              <a:off x="667198" y="522314"/>
              <a:ext cx="7402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rgbClr val="002060"/>
                  </a:solidFill>
                </a:rPr>
                <a:t>03</a:t>
              </a:r>
              <a:endParaRPr lang="ko-KR" altLang="en-US" sz="2800" b="1" dirty="0">
                <a:solidFill>
                  <a:srgbClr val="002060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89AA537-3DFC-477B-8CB5-253C2BBF1DE1}"/>
                </a:ext>
              </a:extLst>
            </p:cNvPr>
            <p:cNvSpPr txBox="1"/>
            <p:nvPr/>
          </p:nvSpPr>
          <p:spPr>
            <a:xfrm>
              <a:off x="1491915" y="599258"/>
              <a:ext cx="9962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구현 방법 및 과정 소개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C6BC525F-F7D3-4742-8D36-4A5AB2B465E6}"/>
              </a:ext>
            </a:extLst>
          </p:cNvPr>
          <p:cNvGrpSpPr/>
          <p:nvPr/>
        </p:nvGrpSpPr>
        <p:grpSpPr>
          <a:xfrm>
            <a:off x="702564" y="4449459"/>
            <a:ext cx="10786868" cy="1635621"/>
            <a:chOff x="702564" y="4887609"/>
            <a:chExt cx="10786868" cy="163562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78DC2A-22BB-4E24-BACF-DDDCAB145069}"/>
                </a:ext>
              </a:extLst>
            </p:cNvPr>
            <p:cNvSpPr txBox="1"/>
            <p:nvPr/>
          </p:nvSpPr>
          <p:spPr>
            <a:xfrm>
              <a:off x="702564" y="4887609"/>
              <a:ext cx="107868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02. </a:t>
              </a:r>
              <a:r>
                <a:rPr lang="ko-KR" altLang="en-US" sz="1400" b="1" dirty="0"/>
                <a:t>구현 과정</a:t>
              </a: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B3605B67-6E84-4C48-BC79-54B9C4060295}"/>
                </a:ext>
              </a:extLst>
            </p:cNvPr>
            <p:cNvGrpSpPr/>
            <p:nvPr/>
          </p:nvGrpSpPr>
          <p:grpSpPr>
            <a:xfrm>
              <a:off x="702564" y="5227830"/>
              <a:ext cx="10786868" cy="1295400"/>
              <a:chOff x="702564" y="5227830"/>
              <a:chExt cx="10786868" cy="1295400"/>
            </a:xfrm>
          </p:grpSpPr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25C77339-C54C-4004-A36E-41484972A3C5}"/>
                  </a:ext>
                </a:extLst>
              </p:cNvPr>
              <p:cNvSpPr/>
              <p:nvPr/>
            </p:nvSpPr>
            <p:spPr>
              <a:xfrm>
                <a:off x="702564" y="5227830"/>
                <a:ext cx="1726800" cy="1295400"/>
              </a:xfrm>
              <a:prstGeom prst="roundRect">
                <a:avLst>
                  <a:gd name="adj" fmla="val 9314"/>
                </a:avLst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ROS2·Gazebo 환경</a:t>
                </a:r>
                <a:endParaRPr lang="ko-KR" altLang="en-US" sz="1600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세팅 및 Go2 스폰</a:t>
                </a:r>
                <a:endParaRPr lang="ko-KR" alt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7BBD6425-47A3-4149-8209-51F2BE80F741}"/>
                  </a:ext>
                </a:extLst>
              </p:cNvPr>
              <p:cNvSpPr/>
              <p:nvPr/>
            </p:nvSpPr>
            <p:spPr>
              <a:xfrm>
                <a:off x="2967581" y="5227830"/>
                <a:ext cx="1726800" cy="1295400"/>
              </a:xfrm>
              <a:prstGeom prst="roundRect">
                <a:avLst>
                  <a:gd name="adj" fmla="val 9314"/>
                </a:avLst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slam_toolbox 기반</a:t>
                </a:r>
                <a:endParaRPr lang="ko-KR" altLang="en-US" sz="1600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SLAM 매핑</a:t>
                </a:r>
                <a:endParaRPr lang="ko-KR" alt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사각형: 둥근 모서리 9">
                <a:extLst>
                  <a:ext uri="{FF2B5EF4-FFF2-40B4-BE49-F238E27FC236}">
                    <a16:creationId xmlns:a16="http://schemas.microsoft.com/office/drawing/2014/main" id="{65F5AE1B-4EB9-4899-B625-5BFFA910294E}"/>
                  </a:ext>
                </a:extLst>
              </p:cNvPr>
              <p:cNvSpPr/>
              <p:nvPr/>
            </p:nvSpPr>
            <p:spPr>
              <a:xfrm>
                <a:off x="5232598" y="5227830"/>
                <a:ext cx="1726800" cy="1295400"/>
              </a:xfrm>
              <a:prstGeom prst="roundRect">
                <a:avLst>
                  <a:gd name="adj" fmla="val 9314"/>
                </a:avLst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Nav2 경로계획</a:t>
                </a:r>
                <a:endParaRPr lang="ko-KR" altLang="en-US" sz="1600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알고리즘 적용</a:t>
                </a:r>
                <a:endParaRPr lang="ko-KR" alt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37F6A7C5-A471-464F-933B-E2E34AB1741F}"/>
                  </a:ext>
                </a:extLst>
              </p:cNvPr>
              <p:cNvSpPr/>
              <p:nvPr/>
            </p:nvSpPr>
            <p:spPr>
              <a:xfrm>
                <a:off x="7497615" y="5227830"/>
                <a:ext cx="1726800" cy="1295400"/>
              </a:xfrm>
              <a:prstGeom prst="roundRect">
                <a:avLst>
                  <a:gd name="adj" fmla="val 9314"/>
                </a:avLst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YOLO·AprilTag</a:t>
                </a:r>
                <a:endParaRPr lang="ko-KR" altLang="en-US" sz="1600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비전 인식 연동</a:t>
                </a:r>
                <a:endParaRPr lang="ko-KR" alt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F3F675A1-9D7E-446E-98AF-6246EA191F74}"/>
                  </a:ext>
                </a:extLst>
              </p:cNvPr>
              <p:cNvSpPr/>
              <p:nvPr/>
            </p:nvSpPr>
            <p:spPr>
              <a:xfrm>
                <a:off x="9762632" y="5227830"/>
                <a:ext cx="1726800" cy="1295400"/>
              </a:xfrm>
              <a:prstGeom prst="roundRect">
                <a:avLst>
                  <a:gd name="adj" fmla="val 9314"/>
                </a:avLst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동굴 주행 및</a:t>
                </a:r>
                <a:endParaRPr lang="ko-KR" altLang="en-US" sz="1600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결과 검증</a:t>
                </a:r>
                <a:endParaRPr lang="ko-KR" alt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화살표: 갈매기형 수장 12">
                <a:extLst>
                  <a:ext uri="{FF2B5EF4-FFF2-40B4-BE49-F238E27FC236}">
                    <a16:creationId xmlns:a16="http://schemas.microsoft.com/office/drawing/2014/main" id="{243D8496-9788-4F7D-B954-B55FFB8A9383}"/>
                  </a:ext>
                </a:extLst>
              </p:cNvPr>
              <p:cNvSpPr/>
              <p:nvPr/>
            </p:nvSpPr>
            <p:spPr>
              <a:xfrm>
                <a:off x="2551823" y="5621530"/>
                <a:ext cx="293299" cy="508000"/>
              </a:xfrm>
              <a:prstGeom prst="chevron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화살표: 갈매기형 수장 13">
                <a:extLst>
                  <a:ext uri="{FF2B5EF4-FFF2-40B4-BE49-F238E27FC236}">
                    <a16:creationId xmlns:a16="http://schemas.microsoft.com/office/drawing/2014/main" id="{56E1ABEC-482D-4BBF-A54C-0D08A7ADE7E3}"/>
                  </a:ext>
                </a:extLst>
              </p:cNvPr>
              <p:cNvSpPr/>
              <p:nvPr/>
            </p:nvSpPr>
            <p:spPr>
              <a:xfrm>
                <a:off x="4816840" y="5621530"/>
                <a:ext cx="293299" cy="508000"/>
              </a:xfrm>
              <a:prstGeom prst="chevron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화살표: 갈매기형 수장 14">
                <a:extLst>
                  <a:ext uri="{FF2B5EF4-FFF2-40B4-BE49-F238E27FC236}">
                    <a16:creationId xmlns:a16="http://schemas.microsoft.com/office/drawing/2014/main" id="{4EDEDAD7-AAB2-49E7-A9B1-192C7A197CFD}"/>
                  </a:ext>
                </a:extLst>
              </p:cNvPr>
              <p:cNvSpPr/>
              <p:nvPr/>
            </p:nvSpPr>
            <p:spPr>
              <a:xfrm>
                <a:off x="7081857" y="5621530"/>
                <a:ext cx="293299" cy="508000"/>
              </a:xfrm>
              <a:prstGeom prst="chevron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화살표: 갈매기형 수장 15">
                <a:extLst>
                  <a:ext uri="{FF2B5EF4-FFF2-40B4-BE49-F238E27FC236}">
                    <a16:creationId xmlns:a16="http://schemas.microsoft.com/office/drawing/2014/main" id="{FEC19BA9-C578-4576-AE3E-E5F2394EB74F}"/>
                  </a:ext>
                </a:extLst>
              </p:cNvPr>
              <p:cNvSpPr/>
              <p:nvPr/>
            </p:nvSpPr>
            <p:spPr>
              <a:xfrm>
                <a:off x="9346874" y="5621530"/>
                <a:ext cx="293299" cy="508000"/>
              </a:xfrm>
              <a:prstGeom prst="chevron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74E4EE8-1C40-4E86-BF56-B089D0B4FEDA}"/>
              </a:ext>
            </a:extLst>
          </p:cNvPr>
          <p:cNvSpPr txBox="1"/>
          <p:nvPr/>
        </p:nvSpPr>
        <p:spPr>
          <a:xfrm>
            <a:off x="702564" y="1404246"/>
            <a:ext cx="10786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02. </a:t>
            </a:r>
            <a:r>
              <a:rPr lang="ko-KR" altLang="en-US" sz="1400" b="1" dirty="0"/>
              <a:t>구현 방법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66E00E5-2D28-412D-967F-E033FD0730F0}"/>
              </a:ext>
            </a:extLst>
          </p:cNvPr>
          <p:cNvGrpSpPr/>
          <p:nvPr/>
        </p:nvGrpSpPr>
        <p:grpSpPr>
          <a:xfrm>
            <a:off x="702564" y="1855562"/>
            <a:ext cx="10786867" cy="2289718"/>
            <a:chOff x="702564" y="1855562"/>
            <a:chExt cx="10786867" cy="2289718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6520D574-17A1-46C1-B3DB-B11FF401DB31}"/>
                </a:ext>
              </a:extLst>
            </p:cNvPr>
            <p:cNvGrpSpPr/>
            <p:nvPr/>
          </p:nvGrpSpPr>
          <p:grpSpPr>
            <a:xfrm>
              <a:off x="702564" y="1855562"/>
              <a:ext cx="3035688" cy="2289718"/>
              <a:chOff x="702566" y="1243502"/>
              <a:chExt cx="2619929" cy="2289718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35DB1D6F-6FDC-43E8-8DB2-91D244F6B7DC}"/>
                  </a:ext>
                </a:extLst>
              </p:cNvPr>
              <p:cNvSpPr/>
              <p:nvPr/>
            </p:nvSpPr>
            <p:spPr>
              <a:xfrm>
                <a:off x="702566" y="1698803"/>
                <a:ext cx="2619928" cy="183441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>
                    <a:solidFill>
                      <a:schemeClr val="tx1"/>
                    </a:solidFill>
                  </a:rPr>
                  <a:t>ROS2 Humble·Gazebo11 기반 </a:t>
                </a:r>
              </a:p>
              <a:p>
                <a:pPr algn="ctr"/>
                <a:r>
                  <a:rPr lang="ko-KR" altLang="en-US" sz="1400" dirty="0">
                    <a:solidFill>
                      <a:schemeClr val="tx1"/>
                    </a:solidFill>
                  </a:rPr>
                  <a:t>사족보행 시뮬레이션 환경 구현</a:t>
                </a: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F50E1063-4839-4278-9BE4-5804B8BBAAB4}"/>
                  </a:ext>
                </a:extLst>
              </p:cNvPr>
              <p:cNvSpPr/>
              <p:nvPr/>
            </p:nvSpPr>
            <p:spPr>
              <a:xfrm>
                <a:off x="702567" y="1243502"/>
                <a:ext cx="2619928" cy="3693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/>
                  <a:t>Gazebo Classic + CHAMP</a:t>
                </a:r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F64841DE-81FE-428F-8DFA-F9CB89E06DE7}"/>
                </a:ext>
              </a:extLst>
            </p:cNvPr>
            <p:cNvGrpSpPr/>
            <p:nvPr/>
          </p:nvGrpSpPr>
          <p:grpSpPr>
            <a:xfrm>
              <a:off x="4578154" y="1855562"/>
              <a:ext cx="3035688" cy="2289718"/>
              <a:chOff x="702566" y="1243502"/>
              <a:chExt cx="2619929" cy="2289718"/>
            </a:xfrm>
          </p:grpSpPr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A100D38E-6530-410F-87D0-7EF45552B77D}"/>
                  </a:ext>
                </a:extLst>
              </p:cNvPr>
              <p:cNvSpPr/>
              <p:nvPr/>
            </p:nvSpPr>
            <p:spPr>
              <a:xfrm>
                <a:off x="702566" y="1698803"/>
                <a:ext cx="2619928" cy="183441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>
                    <a:solidFill>
                      <a:schemeClr val="tx1"/>
                    </a:solidFill>
                  </a:rPr>
                  <a:t>실시간 SLAM 매핑과 </a:t>
                </a:r>
              </a:p>
              <a:p>
                <a:pPr algn="ctr"/>
                <a:r>
                  <a:rPr lang="ko-KR" altLang="en-US" sz="1400" dirty="0">
                    <a:solidFill>
                      <a:schemeClr val="tx1"/>
                    </a:solidFill>
                  </a:rPr>
                  <a:t>다중 경로계획 알고리즘 비교 구현</a:t>
                </a: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7A62A120-C850-489E-9141-FFA324D84908}"/>
                  </a:ext>
                </a:extLst>
              </p:cNvPr>
              <p:cNvSpPr/>
              <p:nvPr/>
            </p:nvSpPr>
            <p:spPr>
              <a:xfrm>
                <a:off x="702567" y="1243502"/>
                <a:ext cx="2619928" cy="3693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/>
                  <a:t>slam_toolbox + Nav2</a:t>
                </a:r>
              </a:p>
            </p:txBody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4125C975-F8F3-4DFE-8966-42E432310C8D}"/>
                </a:ext>
              </a:extLst>
            </p:cNvPr>
            <p:cNvGrpSpPr/>
            <p:nvPr/>
          </p:nvGrpSpPr>
          <p:grpSpPr>
            <a:xfrm>
              <a:off x="8453743" y="1855562"/>
              <a:ext cx="3035688" cy="2289718"/>
              <a:chOff x="702566" y="1243502"/>
              <a:chExt cx="2619929" cy="2289718"/>
            </a:xfrm>
          </p:grpSpPr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2EEE4397-B6A9-4B26-AF8A-5D8F65AF3A69}"/>
                  </a:ext>
                </a:extLst>
              </p:cNvPr>
              <p:cNvSpPr/>
              <p:nvPr/>
            </p:nvSpPr>
            <p:spPr>
              <a:xfrm>
                <a:off x="702566" y="1698803"/>
                <a:ext cx="2619928" cy="183441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>
                    <a:solidFill>
                      <a:schemeClr val="tx1"/>
                    </a:solidFill>
                  </a:rPr>
                  <a:t>카메라 기반 위험물·인명 탐지 및 </a:t>
                </a:r>
              </a:p>
              <a:p>
                <a:pPr algn="ctr"/>
                <a:r>
                  <a:rPr lang="ko-KR" altLang="en-US" sz="1400" dirty="0">
                    <a:solidFill>
                      <a:schemeClr val="tx1"/>
                    </a:solidFill>
                  </a:rPr>
                  <a:t>위치 보정 기능 구현</a:t>
                </a:r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84C5BA23-7968-4A1A-8679-02935B1B6361}"/>
                  </a:ext>
                </a:extLst>
              </p:cNvPr>
              <p:cNvSpPr/>
              <p:nvPr/>
            </p:nvSpPr>
            <p:spPr>
              <a:xfrm>
                <a:off x="702567" y="1243502"/>
                <a:ext cx="2619928" cy="3693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/>
                  <a:t>YOLO + AprilTag</a:t>
                </a:r>
              </a:p>
            </p:txBody>
          </p:sp>
        </p:grpSp>
        <p:sp>
          <p:nvSpPr>
            <p:cNvPr id="28" name="더하기 기호 27">
              <a:extLst>
                <a:ext uri="{FF2B5EF4-FFF2-40B4-BE49-F238E27FC236}">
                  <a16:creationId xmlns:a16="http://schemas.microsoft.com/office/drawing/2014/main" id="{5BCFF97B-AB90-4F36-96CF-65733B22727E}"/>
                </a:ext>
              </a:extLst>
            </p:cNvPr>
            <p:cNvSpPr/>
            <p:nvPr/>
          </p:nvSpPr>
          <p:spPr>
            <a:xfrm>
              <a:off x="3843878" y="2686096"/>
              <a:ext cx="628650" cy="628650"/>
            </a:xfrm>
            <a:prstGeom prst="mathPlus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더하기 기호 28">
              <a:extLst>
                <a:ext uri="{FF2B5EF4-FFF2-40B4-BE49-F238E27FC236}">
                  <a16:creationId xmlns:a16="http://schemas.microsoft.com/office/drawing/2014/main" id="{CF615CBA-004A-46B2-95B4-DD59E24AC29E}"/>
                </a:ext>
              </a:extLst>
            </p:cNvPr>
            <p:cNvSpPr/>
            <p:nvPr/>
          </p:nvSpPr>
          <p:spPr>
            <a:xfrm>
              <a:off x="7719468" y="2686096"/>
              <a:ext cx="628650" cy="628650"/>
            </a:xfrm>
            <a:prstGeom prst="mathPlus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5194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9435DC1C-F153-4125-9CE3-2A72E93CC8DB}"/>
              </a:ext>
            </a:extLst>
          </p:cNvPr>
          <p:cNvGrpSpPr/>
          <p:nvPr/>
        </p:nvGrpSpPr>
        <p:grpSpPr>
          <a:xfrm>
            <a:off x="702567" y="454937"/>
            <a:ext cx="10786865" cy="523220"/>
            <a:chOff x="667198" y="522314"/>
            <a:chExt cx="10786865" cy="52322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4F754F9-DD84-4ED9-AC56-AC6ADE42E5FB}"/>
                </a:ext>
              </a:extLst>
            </p:cNvPr>
            <p:cNvSpPr txBox="1"/>
            <p:nvPr/>
          </p:nvSpPr>
          <p:spPr>
            <a:xfrm>
              <a:off x="667198" y="522314"/>
              <a:ext cx="7402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rgbClr val="002060"/>
                  </a:solidFill>
                </a:rPr>
                <a:t>04</a:t>
              </a:r>
              <a:endParaRPr lang="ko-KR" altLang="en-US" sz="2800" b="1" dirty="0">
                <a:solidFill>
                  <a:srgbClr val="002060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89AA537-3DFC-477B-8CB5-253C2BBF1DE1}"/>
                </a:ext>
              </a:extLst>
            </p:cNvPr>
            <p:cNvSpPr txBox="1"/>
            <p:nvPr/>
          </p:nvSpPr>
          <p:spPr>
            <a:xfrm>
              <a:off x="1491915" y="599258"/>
              <a:ext cx="9962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결과물 예시</a:t>
              </a: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4BD3F54-5F0E-46C6-A8E2-639C968D8080}"/>
              </a:ext>
            </a:extLst>
          </p:cNvPr>
          <p:cNvSpPr/>
          <p:nvPr/>
        </p:nvSpPr>
        <p:spPr>
          <a:xfrm>
            <a:off x="702566" y="1163427"/>
            <a:ext cx="10786865" cy="5239635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tx1"/>
                </a:solidFill>
              </a:rPr>
              <a:t>[Gazebo 동굴 주행 및 SLAM 매핑 결과 화면]</a:t>
            </a:r>
          </a:p>
        </p:txBody>
      </p:sp>
    </p:spTree>
    <p:extLst>
      <p:ext uri="{BB962C8B-B14F-4D97-AF65-F5344CB8AC3E}">
        <p14:creationId xmlns:p14="http://schemas.microsoft.com/office/powerpoint/2010/main" val="64838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C68236-C669-4952-BB3B-FAFEFB909BED}"/>
              </a:ext>
            </a:extLst>
          </p:cNvPr>
          <p:cNvSpPr txBox="1"/>
          <p:nvPr/>
        </p:nvSpPr>
        <p:spPr>
          <a:xfrm>
            <a:off x="737937" y="5556067"/>
            <a:ext cx="10716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Team Name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31DB741-C8F5-4747-AC6C-D783D139E361}"/>
              </a:ext>
            </a:extLst>
          </p:cNvPr>
          <p:cNvGrpSpPr/>
          <p:nvPr/>
        </p:nvGrpSpPr>
        <p:grpSpPr>
          <a:xfrm>
            <a:off x="737937" y="2595052"/>
            <a:ext cx="10716126" cy="1341780"/>
            <a:chOff x="737937" y="2595052"/>
            <a:chExt cx="10716126" cy="134178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83F7628-0B5E-44F2-90D8-234E989CFD0A}"/>
                </a:ext>
              </a:extLst>
            </p:cNvPr>
            <p:cNvSpPr txBox="1"/>
            <p:nvPr/>
          </p:nvSpPr>
          <p:spPr>
            <a:xfrm>
              <a:off x="737937" y="2921169"/>
              <a:ext cx="1071612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0" b="1" dirty="0"/>
                <a:t>Thank you</a:t>
              </a:r>
              <a:endParaRPr lang="ko-KR" altLang="en-US" sz="60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C6129E5-E2FB-4065-9DFB-F14452EC04F9}"/>
                </a:ext>
              </a:extLst>
            </p:cNvPr>
            <p:cNvSpPr txBox="1"/>
            <p:nvPr/>
          </p:nvSpPr>
          <p:spPr>
            <a:xfrm>
              <a:off x="737937" y="2595052"/>
              <a:ext cx="10716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/>
                <a:t>동굴 재난 탐사 및 인명·위험물 탐지 로봇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9379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225</Words>
  <Application>Microsoft Office PowerPoint</Application>
  <PresentationFormat>와이드스크린</PresentationFormat>
  <Paragraphs>60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Arial</vt:lpstr>
      <vt:lpstr>Wingdings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JINWON KIM</dc:creator>
  <cp:lastModifiedBy>JINWON KIM</cp:lastModifiedBy>
  <cp:revision>22</cp:revision>
  <dcterms:created xsi:type="dcterms:W3CDTF">2026-07-21T07:42:26Z</dcterms:created>
  <dcterms:modified xsi:type="dcterms:W3CDTF">2026-07-21T08:40:34Z</dcterms:modified>
</cp:coreProperties>
</file>